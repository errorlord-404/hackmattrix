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a78948b09483e" /><Relationship Type="http://schemas.openxmlformats.org/officeDocument/2006/relationships/extended-properties" Target="/docProps/app.xml" Id="R7f148d5c3cf744bb" /><Relationship Type="http://schemas.openxmlformats.org/officeDocument/2006/relationships/officeDocument" Target="/ppt/presentation.xml" Id="R5750206f68da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701bc823b4358"/>
  </p:sldMasterIdLst>
  <p:notesMasterIdLst>
    <p:notesMasterId xmlns:r="http://schemas.openxmlformats.org/officeDocument/2006/relationships" r:id="R8628c7a1cb3b48ee"/>
  </p:notesMasterIdLst>
  <p:sldIdLst>
    <p:sldId xmlns:r="http://schemas.openxmlformats.org/officeDocument/2006/relationships" id="256" r:id="R23245b06cc5346b8"/>
    <p:sldId xmlns:r="http://schemas.openxmlformats.org/officeDocument/2006/relationships" id="257" r:id="R4f0731491a544e8a"/>
    <p:sldId xmlns:r="http://schemas.openxmlformats.org/officeDocument/2006/relationships" id="258" r:id="R9018662ce93f4043"/>
    <p:sldId xmlns:r="http://schemas.openxmlformats.org/officeDocument/2006/relationships" id="259" r:id="R08ea30d59bfa49b9"/>
    <p:sldId xmlns:r="http://schemas.openxmlformats.org/officeDocument/2006/relationships" id="260" r:id="Re712d793641b4a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b531bc76142d7" /><Relationship Type="http://schemas.openxmlformats.org/officeDocument/2006/relationships/slideMaster" Target="/ppt/slideMasters/slideMaster1.xml" Id="R1dd701bc823b4358" /><Relationship Type="http://schemas.openxmlformats.org/officeDocument/2006/relationships/notesMaster" Target="/ppt/notesMasters/notesMaster1.xml" Id="R8628c7a1cb3b48ee" /><Relationship Type="http://schemas.openxmlformats.org/officeDocument/2006/relationships/presProps" Target="/ppt/presProps.xml" Id="R75da1586aaaf403b" /><Relationship Type="http://schemas.openxmlformats.org/officeDocument/2006/relationships/tableStyles" Target="/ppt/tableStyles.xml" Id="Redf138edeacc41bb" /><Relationship Type="http://schemas.openxmlformats.org/officeDocument/2006/relationships/slide" Target="/ppt/slides/slide1.xml" Id="R23245b06cc5346b8" /><Relationship Type="http://schemas.openxmlformats.org/officeDocument/2006/relationships/slide" Target="/ppt/slides/slide2.xml" Id="R4f0731491a544e8a" /><Relationship Type="http://schemas.openxmlformats.org/officeDocument/2006/relationships/slide" Target="/ppt/slides/slide3.xml" Id="R9018662ce93f4043" /><Relationship Type="http://schemas.openxmlformats.org/officeDocument/2006/relationships/slide" Target="/ppt/slides/slide4.xml" Id="R08ea30d59bfa49b9" /><Relationship Type="http://schemas.openxmlformats.org/officeDocument/2006/relationships/slide" Target="/ppt/slides/slide5.xml" Id="Re712d793641b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2c94e5fe9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0c58941898407e" /><Relationship Type="http://schemas.openxmlformats.org/officeDocument/2006/relationships/notesMaster" Target="/ppt/notesMasters/notesMaster1.xml" Id="R3158ad349590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f4194394046e6" /><Relationship Type="http://schemas.openxmlformats.org/officeDocument/2006/relationships/notesMaster" Target="/ppt/notesMasters/notesMaster1.xml" Id="R471e33deb465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274e605ec47f1" /><Relationship Type="http://schemas.openxmlformats.org/officeDocument/2006/relationships/notesMaster" Target="/ppt/notesMasters/notesMaster1.xml" Id="Rf42d2a2456b645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44f5babd045cf" /><Relationship Type="http://schemas.openxmlformats.org/officeDocument/2006/relationships/notesMaster" Target="/ppt/notesMasters/notesMaster1.xml" Id="R29aa7cf886f6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d25f73dea84ce6" /><Relationship Type="http://schemas.openxmlformats.org/officeDocument/2006/relationships/notesMaster" Target="/ppt/notesMasters/notesMaster1.xml" Id="R5f3ae1d2828f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SIH_Kisan_Sathi_PS-180.pptx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f1e26c7c1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f0b186e59403a" /><Relationship Type="http://schemas.openxmlformats.org/officeDocument/2006/relationships/slideLayout" Target="/ppt/slideLayouts/slideLayout1.xml" Id="Rbdfb90e2c6404b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b90e2c6404b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021306bd4b97" /><Relationship Type="http://schemas.openxmlformats.org/officeDocument/2006/relationships/notesSlide" Target="/ppt/notesSlides/notesSlide1.xml" Id="R046f6e6120e6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1cf8f1ffb4f14" /><Relationship Type="http://schemas.openxmlformats.org/officeDocument/2006/relationships/notesSlide" Target="/ppt/notesSlides/notesSlide2.xml" Id="R6169d13d5e14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bebd449f8415c" /><Relationship Type="http://schemas.openxmlformats.org/officeDocument/2006/relationships/notesSlide" Target="/ppt/notesSlides/notesSlide3.xml" Id="Ra7b4dc3547f941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73ea3559548d6" /><Relationship Type="http://schemas.openxmlformats.org/officeDocument/2006/relationships/notesSlide" Target="/ppt/notesSlides/notesSlide4.xml" Id="R1dcf26b11f27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213e6656d43d3" /><Relationship Type="http://schemas.openxmlformats.org/officeDocument/2006/relationships/notesSlide" Target="/ppt/notesSlides/notesSlide5.xml" Id="Ra1b1f37c44204f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AEF1B-FE2B-4A4C-87BD-B800B3D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B2E0F-F971-4EEB-A7CF-FDAC5CF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FF918-7002-4ADA-BF2C-11D18E94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28966-081F-42F4-9596-7C80B9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AC6AA-FEA8-4368-A2AF-879C6C9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F05A3-D08E-429B-A6CD-0BE0857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F6AA6-45E8-47CB-A0D5-5CA78E7D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EF96-2B25-423A-A2C3-23B86590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FIELD-DEPLOYABLE FARM COPILOT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29BF9-1ECB-4170-8F0D-8F8B31B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Turn field evidence into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clear, safe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FE93F-466D-4D38-B68F-5BFEC63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KisanSathi helps farmers detect crop and soil stress early, understand irrigation needs and act despite weak connectivity.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47CC-E54B-45C2-B500-03FAFDF2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857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22DE6-8659-4EC3-9C2C-768E06E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14106-F244-41AE-BCE4-A0DD0DE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4143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recommends. The farmer confirms. The edge device enforces safety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EF94E-3AEA-4316-9E4B-29160C0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731BC-137B-484B-BDE9-79641F8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E423E-1E7F-44D6-ACAE-C0A2BF1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soil, crop, 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B96ED-0102-4718-93A6-3005385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425D0-2E04-4BFA-84FC-F24A540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4992B-238C-433E-BE7B-431C25F5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2460B-401A-4181-A20B-49E32A5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Recommend</a:t>
            </a:r>
          </a:p>
          <a:p xmlns:a="http://schemas.openxmlformats.org/drawingml/2006/main">
            <a:pPr>
              <a:defRPr sz="14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with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E2781-1977-46AD-BB1D-D599AB0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095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84E8F-9AEA-4DD8-8029-5E7D92D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 safely</a:t>
            </a:r>
          </a:p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record</a:t>
            </a:r>
          </a:p>
        </p:txBody>
      </p: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82000" y="2171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8107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3820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34250" y="2628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BF021-EA53-4929-93E7-EEF5451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34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A practical loop for disease, pests, nutrient stress and irrigation decisions</a:t>
            </a:r>
          </a:p>
        </p:txBody>
      </p:sp>
    </p:spTree>
    <p:extLst>
      <p:ext uri="{BB962C8B-B14F-4D97-AF65-F5344CB8AC3E}">
        <p14:creationId xmlns:p14="http://schemas.microsoft.com/office/powerpoint/2010/main" val="43827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18752-8106-4703-97EB-08DBF1B2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9437-A4BE-4C63-A28A-8470304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 statement and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85806-0766-4949-99BC-F80346C2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D467-2EFE-4401-95F2-656AD27F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5192-B20A-4E3B-B0E3-847CF73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C9CD9-4F64-48DB-B323-76006C28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02985-1F4B-4275-9FEB-E721795B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2B68-8998-498E-98F9-82F1CDD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FIELD 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C4EDD-011E-469F-9F70-BBE12EE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1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Farmers make high-stakes decisions with fragmented, delayed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819B2-1255-4B12-AD50-433B70A9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FC833-A9E6-4590-A10D-E9D2905A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DDDD0-B09C-4A9D-AA5F-DB41E50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Disconnected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647EF-44B1-4D73-BBD0-C51CCD2E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Images, soil readings, field notes and weather data sit in separate tools. The farmer must interpret them under time pressure.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574D-3196-4DBA-BF73-D35CE08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956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89513-1B05-4498-B4C1-4F6D7B1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EAAF7-1AB1-4CEB-A2C1-AA00BE96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2676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Connectivity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7911F-123C-44CB-B31F-E2EA361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26765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Cloud-only applications lose value when the network is unreliable, especially where timely advice matters most.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A3505-AA91-4158-BA6E-D8C6BFE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3337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DAAAD-6232-4A4D-AC2F-B9C014D1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A4E82-1E9D-4E44-A760-96F564F0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67000"/>
            <a:ext cx="291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Unsafe automation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02864-A69C-4E7C-8F0E-861F72B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003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generic AI response must not directly control pumps or turn uncertain sensor data into costly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DB09C-3026-4011-803A-D013D76A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The solution needs local intelligence, understandable advice and a safety boundary around every action.</a:t>
            </a:r>
          </a:p>
        </p:txBody>
      </p:sp>
    </p:spTree>
    <p:extLst>
      <p:ext uri="{BB962C8B-B14F-4D97-AF65-F5344CB8AC3E}">
        <p14:creationId xmlns:p14="http://schemas.microsoft.com/office/powerpoint/2010/main" val="1218249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135156-01DC-49F6-893E-2422851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BBF2A-2E76-434F-A4CB-D89D2A1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84CBE-E9AF-47B7-A8B5-D8FD817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06111-A8D5-4677-847B-E255DA7D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54C81-3CE9-4014-AE7F-4FEFC2D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0AB28-BF85-4346-ACAD-35761B6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CF0B0-B232-4DBA-8F61-CE60BA6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field-first assistant built around the farmer’s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E7D4C-9A9D-41B8-9DF0-B40D076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FD79F-30C7-4F18-985C-C733128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824BB-A0F9-4A1B-A05D-85BB1CE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Offline-first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50AA8-05DE-4595-A794-2B9C226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storage, local inference and queued sync keep core workflows available during outages.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C9E0F-59FF-40D0-BFAE-33E56AB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2EEC9-5939-4827-BF95-24C827D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81003-DB6D-4EFA-B1DF-DC4100F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Multilingual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62F90-BA56-4502-A593-FA96A83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Hindi and Marathi voice interactions make advice accessible without complex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BCEC-5B5A-49CE-90C9-D6992548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B89D9-7B9F-476D-B1C7-FB1093C1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4E7C0-1D3D-490B-B9DF-A5CAB82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Early stress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106AE-1299-468F-8BD6-356E6493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3362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sensor readings identify disease, pests, nutrient stress and irrigation needs.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F08D3-F10D-4664-9ECB-F4A0831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11FB8-D9C1-43A7-B94C-6BF3CF1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058B0-7041-469D-9C64-92F40D5C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Explainable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760BD-3D05-412D-8067-576291C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Advice includes priority, confidence, evidence and data freshness so farmers can judge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EA114-40CC-4A33-84C4-A8FD52D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B93D9-DAC6-428B-8B8A-AD7B3B9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66DFC-21B8-4E17-9FDC-6910EFF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Farmer-scoped digital twin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B14B5-99BB-4C8F-9180-BC0B1D7A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Observations, tasks and interventions remain traceable at the individual farm level.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7F077-3F30-4808-A2A7-42548730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190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544BD-3EB9-4518-85CB-C9C681B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94703-EE28-46DB-8C2A-3FDE969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10000"/>
            <a:ext cx="2771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Safe 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2B6C0-D8CA-4BA0-849E-A8D23EB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2771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Low confidence or unsupported crops route evidence to KVKs and human experts.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14F47-8B7F-44B7-8504-7E2B1F5E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57A01-91B4-4398-B5DB-CCB2DF6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system combines fast local detection with accountable, tool-driven reasoning.</a:t>
            </a:r>
          </a:p>
        </p:txBody>
      </p:sp>
    </p:spTree>
    <p:extLst>
      <p:ext uri="{BB962C8B-B14F-4D97-AF65-F5344CB8AC3E}">
        <p14:creationId xmlns:p14="http://schemas.microsoft.com/office/powerpoint/2010/main" val="924504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636BE2-3C27-42C5-8DE1-E5B1EA15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96450-6A59-4672-B113-14C8E2C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Technical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4EB0-11C6-4E2D-AA81-8574BB5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47EC0-D6C0-49F1-9A2E-E4F887E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18D5D-8D53-4078-BA41-31A3203C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1EC81-46B5-4F58-82BB-F6BCDB5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4E43-191E-4C6F-A2DC-7F98B54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667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B9A76-898B-4C20-861E-B68A23A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SENSE · DIAGNOSE · REASON · DELIVER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3C6CE-24E2-4964-A73B-62D740A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local decision loop with connected support when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2FB8-F6F3-42CD-8C41-E1B1DB0B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8FEAC-14AA-49A9-B47C-66B2F86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0E856-4B94-40A5-B1A5-6A89064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A0412-6124-4432-B952-2F6EBA0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ESP32 probes, crop images, field records and weather capture relevant field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20513-6287-4435-A423-BACF6340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11A22-A5D7-453C-BF74-A9877E4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C00B7-8946-431C-A766-CC09178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1821F-4798-41B8-9503-40A0F64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C75CE-8496-41FC-9BA5-D187D30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vision and deterministic agronomy APIs identify stress and irrigation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C2802-E896-4739-BCBA-B1418D8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74AE5-46A3-4BEB-B4EE-CA7BFBE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9FEBC-B9B6-4C57-9B7B-7A0F9276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1B6E6-5212-4F37-BBB6-4B128C3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8B08A-3DE0-4D90-8C0F-9DAB0A76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 Codex agent uses farmer-scoped MCP tools, local state and verified data services.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65E23-DD7F-4829-9C2A-A722D2CB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D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BC7B6-F835-467B-A005-0B1E0743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8BF71-F763-4D31-AAC1-79EDC768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7D94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7D9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145B4-BE8F-4D8D-A59F-221652E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 &amp;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60F63-7489-4398-ADE4-B3AB211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19475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9F4E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9F4E2"/>
                </a:solidFill>
                <a:latin typeface="Aptos"/>
                <a:ea typeface="Aptos"/>
                <a:cs typeface="Aptos"/>
              </a:rPr>
              <a:t>Voice and simple screens return prioritized advice, create confirmed tasks and sync later.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0317C-6410-4D92-ACC8-271C26A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05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72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239000" y="48958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7B819-9992-4563-B1A1-5CF555D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Local 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73535-2F62-451E-AA51-2403D827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Agent orchestration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8715C-F7FC-4648-8CA1-7BCB1FA5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Farmer confirmation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98950E-161B-44CC-A4E1-753CD46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Record &amp; sync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96897-8F29-48DC-B80D-7CE6D21F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1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50677C"/>
                </a:solidFill>
                <a:latin typeface="Aptos"/>
                <a:ea typeface="Aptos"/>
                <a:cs typeface="Aptos"/>
              </a:rPr>
              <a:t>The edge device and human remain the final safety controls.</a:t>
            </a:r>
          </a:p>
        </p:txBody>
      </p:sp>
    </p:spTree>
    <p:extLst>
      <p:ext uri="{BB962C8B-B14F-4D97-AF65-F5344CB8AC3E}">
        <p14:creationId xmlns:p14="http://schemas.microsoft.com/office/powerpoint/2010/main" val="772379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A569E-35A3-47FE-9F11-EFF3BEC0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3F28B-C912-49EF-8E7B-44351349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45198-16DA-400F-A340-49E2E13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9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E61F-C489-477A-85F3-9ABCF5D1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CCF6A-41A8-4532-8EFC-45FFFD1E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KISAN SATHI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FFE2F-3D8D-4377-AD00-4035F3D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2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349B1-AE55-4579-8A72-5B5CD2A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Architecture retained from the source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FCB63-5958-4DEC-900A-3669AFEB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23812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1FAF8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87B23-CEE9-4109-89D1-B702FAE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047875" cy="23812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5F8F5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88A45-8CC3-4C30-9F19-621D9D2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333625" cy="2952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9EE"/>
          </a:solidFill>
          <a:ln xmlns:a="http://schemas.openxmlformats.org/drawingml/2006/main" w="9525">
            <a:solidFill>
              <a:srgbClr val="176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30A20-C9C8-41E8-9117-4AD182BA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42887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5E0DA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4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77250" y="3524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B949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F59AF-D446-41CD-9E49-3280DC9F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FIELD /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D3D37-EF9D-4CD2-8EC2-3C94881C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ESP32-S3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118E2-1580-491E-ABB3-5EE61AC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52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WiFi / MQTT buffering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Soil moisture, temperature, EC, pH and NPK probes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On-device TFLite / QNN 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63711-7A36-4065-A011-2425897E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BACKEND &amp;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2A67B-61B5-43BB-AA20-B081812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3A381-D0B6-4AB6-A8A7-FB834EA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66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Python 3.11+ with Pydantic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SQLite for local state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MongoDB catalogues via Beanie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Deterministic agronomy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C4CB9-3D24-4937-BF1B-4CF7A827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6B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4D"/>
                </a:solidFill>
                <a:latin typeface="Aptos"/>
                <a:ea typeface="Aptos"/>
                <a:cs typeface="Aptos"/>
              </a:rPr>
              <a:t>AI ORCHESTRATION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09A9B-CEFE-4C43-B0E0-BEC09C3C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Codex App-Server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B6E9F-1C2F-49E7-90EA-E5242C5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20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Agent loop via MCP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47 deterministic tools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Farmer-scoped context</a:t>
            </a:r>
          </a:p>
          <a:p xmlns:a="http://schemas.openxmlformats.org/drawingml/2006/main">
            <a:pPr>
              <a:defRPr sz="1125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No direct hardware authority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31530-24D4-4F57-AEF7-2553F200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24350"/>
            <a:ext cx="1657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F2C98-CA65-47FE-97FF-5E84F82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386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7D422-BB16-46C5-948E-CD835E61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956B1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56B12"/>
                </a:solidFill>
                <a:latin typeface="Aptos"/>
                <a:ea typeface="Aptos"/>
                <a:cs typeface="Aptos"/>
              </a:rPr>
              <a:t>EXTERNAL 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C8E87-7E50-492D-B360-43DD13D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Farmer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095E1-D720-49CE-966A-2F0318E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React 19 / Vite / Tailwind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Sarvam AI for speech and translation</a:t>
            </a:r>
          </a:p>
          <a:p xmlns:a="http://schemas.openxmlformats.org/drawingml/2006/main">
            <a:pPr>
              <a:defRPr sz="1050" b="0" i="0">
                <a:solidFill>
                  <a:srgbClr val="50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0677C"/>
                </a:solidFill>
                <a:latin typeface="Aptos"/>
                <a:ea typeface="Aptos"/>
                <a:cs typeface="Aptos"/>
              </a:rPr>
              <a:t>Open-Meteo, data.gov.in, FARMS and MahaDBT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B1403-5773-4C2A-A963-B7281D97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 services enrich the decision. Core field functions remain available locally.</a:t>
            </a:r>
          </a:p>
        </p:txBody>
      </p:sp>
    </p:spTree>
    <p:extLst>
      <p:ext uri="{BB962C8B-B14F-4D97-AF65-F5344CB8AC3E}">
        <p14:creationId xmlns:p14="http://schemas.microsoft.com/office/powerpoint/2010/main" val="1429188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2026-09-20T14:33:21.0820000Z</dcterms:created>
  <dcterms:modified xsi:type="dcterms:W3CDTF">2026-09-20T14:33:21.0820000Z</dcterms:modified>
</coreProperties>
</file>