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833fd03ec2440a" /><Relationship Type="http://schemas.openxmlformats.org/officeDocument/2006/relationships/extended-properties" Target="/docProps/app.xml" Id="R8c89262fb8584fe7" /><Relationship Type="http://schemas.openxmlformats.org/officeDocument/2006/relationships/officeDocument" Target="/ppt/presentation.xml" Id="Rbfd3bd14596d4d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d9a3a4a16047b0"/>
  </p:sldMasterIdLst>
  <p:notesMasterIdLst>
    <p:notesMasterId xmlns:r="http://schemas.openxmlformats.org/officeDocument/2006/relationships" r:id="R99ed6714eb1a4b0b"/>
  </p:notesMasterIdLst>
  <p:sldIdLst>
    <p:sldId xmlns:r="http://schemas.openxmlformats.org/officeDocument/2006/relationships" id="256" r:id="R0d315bab13fb4af6"/>
    <p:sldId xmlns:r="http://schemas.openxmlformats.org/officeDocument/2006/relationships" id="257" r:id="R56ec20c346684a78"/>
    <p:sldId xmlns:r="http://schemas.openxmlformats.org/officeDocument/2006/relationships" id="258" r:id="R18c43b284b8a4ffc"/>
    <p:sldId xmlns:r="http://schemas.openxmlformats.org/officeDocument/2006/relationships" id="259" r:id="R1c9aa6e79e7c4064"/>
    <p:sldId xmlns:r="http://schemas.openxmlformats.org/officeDocument/2006/relationships" id="260" r:id="R4db5e8a9667f4a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5acec433a94219" /><Relationship Type="http://schemas.openxmlformats.org/officeDocument/2006/relationships/slideMaster" Target="/ppt/slideMasters/slideMaster1.xml" Id="Re3d9a3a4a16047b0" /><Relationship Type="http://schemas.openxmlformats.org/officeDocument/2006/relationships/notesMaster" Target="/ppt/notesMasters/notesMaster1.xml" Id="R99ed6714eb1a4b0b" /><Relationship Type="http://schemas.openxmlformats.org/officeDocument/2006/relationships/presProps" Target="/ppt/presProps.xml" Id="R5a84ea2a45464318" /><Relationship Type="http://schemas.openxmlformats.org/officeDocument/2006/relationships/tableStyles" Target="/ppt/tableStyles.xml" Id="R5c454bb06683486f" /><Relationship Type="http://schemas.openxmlformats.org/officeDocument/2006/relationships/slide" Target="/ppt/slides/slide1.xml" Id="R0d315bab13fb4af6" /><Relationship Type="http://schemas.openxmlformats.org/officeDocument/2006/relationships/slide" Target="/ppt/slides/slide2.xml" Id="R56ec20c346684a78" /><Relationship Type="http://schemas.openxmlformats.org/officeDocument/2006/relationships/slide" Target="/ppt/slides/slide3.xml" Id="R18c43b284b8a4ffc" /><Relationship Type="http://schemas.openxmlformats.org/officeDocument/2006/relationships/slide" Target="/ppt/slides/slide4.xml" Id="R1c9aa6e79e7c4064" /><Relationship Type="http://schemas.openxmlformats.org/officeDocument/2006/relationships/slide" Target="/ppt/slides/slide5.xml" Id="R4db5e8a9667f4a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f4bca59fdb40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60d28a9f8c45c7" /><Relationship Type="http://schemas.openxmlformats.org/officeDocument/2006/relationships/notesMaster" Target="/ppt/notesMasters/notesMaster1.xml" Id="R8295ec77dea540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95d7069f3e41ec" /><Relationship Type="http://schemas.openxmlformats.org/officeDocument/2006/relationships/notesMaster" Target="/ppt/notesMasters/notesMaster1.xml" Id="Ra5d1313fdf7049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9491726e59476b" /><Relationship Type="http://schemas.openxmlformats.org/officeDocument/2006/relationships/notesMaster" Target="/ppt/notesMasters/notesMaster1.xml" Id="R2646a5c9ebeb42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8bce1a94d34f85" /><Relationship Type="http://schemas.openxmlformats.org/officeDocument/2006/relationships/notesMaster" Target="/ppt/notesMasters/notesMaster1.xml" Id="Rfae57808c86c4d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fef2e484104d30" /><Relationship Type="http://schemas.openxmlformats.org/officeDocument/2006/relationships/notesMaster" Target="/ppt/notesMasters/notesMaster1.xml" Id="R89c4535049974f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SIH_Kisan_Sathi_PS-180.pptx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SIH_Kisan_Sathi_PS-180.pptx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SIH_Kisan_Sathi_PS-180.pptx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SIH_Kisan_Sathi_PS-180.pptx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SIH_Kisan_Sathi_PS-180.pptx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6d158ea8cf46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932b45854b4d08" /><Relationship Type="http://schemas.openxmlformats.org/officeDocument/2006/relationships/slideLayout" Target="/ppt/slideLayouts/slideLayout1.xml" Id="R96f20e26307949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f20e26307949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4459d2f5d4468" /><Relationship Type="http://schemas.openxmlformats.org/officeDocument/2006/relationships/notesSlide" Target="/ppt/notesSlides/notesSlide1.xml" Id="R96f3ff0c85ea48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0e76ff7a041b6" /><Relationship Type="http://schemas.openxmlformats.org/officeDocument/2006/relationships/notesSlide" Target="/ppt/notesSlides/notesSlide2.xml" Id="Rbf2729d3a46e48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c4313fe5c4b75" /><Relationship Type="http://schemas.openxmlformats.org/officeDocument/2006/relationships/notesSlide" Target="/ppt/notesSlides/notesSlide3.xml" Id="Rb5d090fc7ed440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594556e5a44b6e" /><Relationship Type="http://schemas.openxmlformats.org/officeDocument/2006/relationships/notesSlide" Target="/ppt/notesSlides/notesSlide4.xml" Id="Raae46979c9bc47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b0a06b2ee4339" /><Relationship Type="http://schemas.openxmlformats.org/officeDocument/2006/relationships/notesSlide" Target="/ppt/notesSlides/notesSlide5.xml" Id="Ra7f78f5e97bd46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2238E4-73E6-4AD5-9BBE-2E5687A0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D2614-A7BB-477C-8171-32A7D08E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Project objective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8C78CA-CDAF-426A-A3A5-705F3D42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19100"/>
            <a:ext cx="70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82FEB2-6CB5-4807-98D5-D8D33CAA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817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FF8489-6F69-4578-BD40-B9B041CE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KISAN SATHI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AB825-C93E-4464-8E87-899E0F1D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3246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SMART INDIA HACKATHON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F0466-9F43-4028-8A9F-B406A99B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2571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1D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94772A-9837-4248-8638-5E9A93F8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858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FIELD-DEPLOYABLE FARM COPILOT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0B869E-8AAA-451D-AC2F-8E78769F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5143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Turn field evidence into</a:t>
            </a:r>
          </a:p>
          <a:p xmlns:a="http://schemas.openxmlformats.org/drawingml/2006/main">
            <a:pPr>
              <a:defRPr sz="28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clear, safe 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888D37-F93A-4755-8A69-57BB2F2A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KisanSathi helps farmers detect crop and soil stress early, understand irrigation needs and act despite weak connectivity.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C9E8C0-A039-4DB1-AD32-E3AC39D8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485775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EEF5F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27D4E2-D65C-4DF6-A126-5B4EAC1B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434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Design principle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E0C44F-828F-4372-B927-C69D7619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05350"/>
            <a:ext cx="41433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AI recommends. The farmer confirms. The edge device enforces safety limits.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4E8F0B-0AC0-4C4B-A59E-187727B0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FIELD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CE3E89-27C3-46CA-B12B-579F9721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20955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5F8F5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B8B580-5695-4E80-A00A-17681F04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240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Sense</a:t>
            </a:r>
          </a:p>
          <a:p xmlns:a="http://schemas.openxmlformats.org/drawingml/2006/main">
            <a:pPr>
              <a:defRPr sz="14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soil, crop, weather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F641FB-1518-49A1-A94D-60604838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14500"/>
            <a:ext cx="20955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5F8F5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934253-BC06-4B1D-9DBE-3FF0E03F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240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Diagnose</a:t>
            </a:r>
          </a:p>
          <a:p xmlns:a="http://schemas.openxmlformats.org/drawingml/2006/main">
            <a:pPr>
              <a:defRPr sz="14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locally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DF5050-4E48-4AA3-A8FD-334A35D3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20955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5F8F5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B645E7-4C04-496E-8D60-1DC729B7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623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Recommend</a:t>
            </a:r>
          </a:p>
          <a:p xmlns:a="http://schemas.openxmlformats.org/drawingml/2006/main">
            <a:pPr>
              <a:defRPr sz="14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with context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757CA0-0CE4-44A2-A519-520416C1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52800"/>
            <a:ext cx="20955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176B4D"/>
          </a:solidFill>
          <a:ln xmlns:a="http://schemas.openxmlformats.org/drawingml/2006/main" w="9525">
            <a:solidFill>
              <a:srgbClr val="176B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296BF3-0EF2-4708-ACA6-3A2085EA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623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Act safely</a:t>
            </a:r>
          </a:p>
          <a:p xmlns:a="http://schemas.openxmlformats.org/drawingml/2006/main">
            <a:pPr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and record</a:t>
            </a:r>
          </a:p>
        </p:txBody>
      </p:sp>
      <p:cxnSp>
        <p:nvCxnSpPr>
          <p:cNvPr id="50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382000" y="21717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4D"/>
            </a:solidFill>
            <a:prstDash val="solid"/>
            <a:head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7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9810750" y="2628900"/>
            <a:ext cx="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4D"/>
            </a:solidFill>
            <a:prstDash val="solid"/>
            <a:head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19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382000" y="38100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4D"/>
            </a:solidFill>
            <a:prstDash val="solid"/>
            <a:head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15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7334250" y="2628900"/>
            <a:ext cx="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4D"/>
            </a:solidFill>
            <a:prstDash val="solid"/>
            <a:head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F83D77-FF6C-4F45-BFD0-1DA86F27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134"/>
          </a:bodyPr>
          <a:lstStyle xmlns:a="http://schemas.openxmlformats.org/drawingml/2006/main"/>
          <a:p xmlns:a="http://schemas.openxmlformats.org/drawingml/2006/main">
            <a:pPr>
              <a:defRPr sz="1200" b="0" i="1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200" b="0" i="1">
                <a:solidFill>
                  <a:srgbClr val="50677C"/>
                </a:solidFill>
                <a:latin typeface="Aptos"/>
                <a:ea typeface="Aptos"/>
                <a:cs typeface="Aptos"/>
              </a:rPr>
              <a:t>A practical loop for disease, pests, nutrient stress and irrigation decisions</a:t>
            </a:r>
          </a:p>
        </p:txBody>
      </p:sp>
    </p:spTree>
    <p:extLst>
      <p:ext uri="{BB962C8B-B14F-4D97-AF65-F5344CB8AC3E}">
        <p14:creationId xmlns:p14="http://schemas.microsoft.com/office/powerpoint/2010/main" val="7411164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52EF67-2ED3-4672-92C2-13659B09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12F4E-6BBD-4BEF-9272-EB2AE468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Problem statement and need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1746B-14B2-4AC8-BDBB-6F86EAE2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19100"/>
            <a:ext cx="70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626DF-45B6-4F60-A120-224AF679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817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7AB8A-FA72-4606-997D-26F405AE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KISAN SATHI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CBFEDE-16E1-4B13-85DC-BA577C69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3246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SMART INDIA HACKATHON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F179E0-7D92-44BE-927C-88FC7897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6192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1D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613E6C-6CF1-43D7-BC7B-0904E043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858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THE FIELD REALITY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4101C4-45CF-477D-90CD-55136F2D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685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612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Farmers make high-stakes decisions with fragmented, delayed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C53E9E-AEA4-4DC7-87E8-D2EF6E8B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3095625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586D9C-569C-4FBD-A6AD-A5918F6E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66675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B94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FB643A-33D0-418D-80D1-98B19F5E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667000"/>
            <a:ext cx="2676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Disconnected signals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903594-77AA-4E76-A1B9-E3A484E2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000375"/>
            <a:ext cx="2676525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Images, soil readings, field notes and weather data sit in separate tools. The farmer must interpret them under time pressure.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31934D-3845-4755-A67E-4D1CF462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3095625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1FAF8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75AE85-E5A2-4C19-801F-AF989EF4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66675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5D4E50-D23D-4A68-8677-A6DC5726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67000"/>
            <a:ext cx="2676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Connectivity gaps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9E3664-D487-4C2C-99CF-13B49A2D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00375"/>
            <a:ext cx="2676525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Cloud-only applications lose value when the network is unreliable, especially where timely advice matters most.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02BC0A-5CEE-4E7B-9BD9-D98FBC88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333375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EF5F0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E8DDD1-A47D-49FE-AC75-1A2200FC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66675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4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D4B71F-BD2B-4CE8-8BCE-38638B3E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67000"/>
            <a:ext cx="2914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Unsafe automation risk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192D1B-E442-45CD-AB45-1CB41569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000375"/>
            <a:ext cx="29146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A generic AI response must not directly control pumps or turn uncertain sensor data into costly decisions.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2A0F59-63D5-4AC3-9138-FD2374CD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00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The solution needs local intelligence, understandable advice and a safety boundary around every action.</a:t>
            </a:r>
          </a:p>
        </p:txBody>
      </p:sp>
    </p:spTree>
    <p:extLst>
      <p:ext uri="{BB962C8B-B14F-4D97-AF65-F5344CB8AC3E}">
        <p14:creationId xmlns:p14="http://schemas.microsoft.com/office/powerpoint/2010/main" val="8926263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CE3ECA-F5D4-4E7B-A2C2-5BBEC20B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4CB8B-54B8-4C1C-A7AA-2295CB51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Key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5CF31-5BF4-47FD-B1F7-12BC5EB4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19100"/>
            <a:ext cx="70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479CF-EBD5-4D83-ACB2-204B7530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817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A48B7F-0145-483C-838F-9E0F9293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KISAN SATHI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29F7A-30EC-42BD-B59F-C3D132B7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3246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SMART INDIA HACKATHON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BC9655-9F73-420C-A3E3-9AC0E6C6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A field-first assistant built around the farmer’s decisions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14D9E7-27F7-4F29-B1E6-356747C1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190875" cy="1381125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F5F8F5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5CC2D6-C6CB-42D1-BB74-5F1A45F9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6667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4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C88359-CB42-4C6F-AFBC-C95FD98A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000250"/>
            <a:ext cx="2771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Offline-first operation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6DF816-7D43-4F6C-AAC0-0DE35B99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333625"/>
            <a:ext cx="2771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SQLite storage, local inference and queued sync keep core workflows available during outages.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34321-33FF-4158-94BE-127DF68B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190875" cy="1381125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F2F375-B195-4D48-9081-FB34E4A8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6667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A5E5D0-CFD4-4A38-981A-87FE9B8D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000250"/>
            <a:ext cx="2771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Multilingual guidance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D0010F-C9D1-4492-8380-1466D350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333625"/>
            <a:ext cx="2771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Hindi and Marathi voice interactions make advice accessible without complex screens.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C402E5-0954-4588-933E-CF426B09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190875" cy="1381125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F5F8F5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E24B05-19FC-4A64-8401-28123E00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6667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B94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32BEDA-49A7-4EBC-AAAD-6840FC47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00250"/>
            <a:ext cx="2771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Early stress detection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114227-023B-436F-83D1-6FB8F151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333625"/>
            <a:ext cx="2771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On-device vision and sensor readings identify disease, pests, nutrient stress and irrigation needs.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833CDF-6DC8-4DAB-8E40-7D0143EF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3190875" cy="1381125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4CF444-37ED-4909-BA60-85153E8A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6667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4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982EAE-39A6-44C5-ACB3-12C137D8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810000"/>
            <a:ext cx="2771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Explainable recommendations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6388CD-081D-4F39-8AE8-A9D4CCB8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143375"/>
            <a:ext cx="2771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Advice includes priority, confidence, evidence and data freshness so farmers can judge it.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D38FFB-0D91-4F7E-BF38-77D34925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19500"/>
            <a:ext cx="3190875" cy="1381125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F5F8F5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F21DEA-E52C-4BFB-AF9D-A19F25FE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19500"/>
            <a:ext cx="6667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B653D0-3E0B-4873-99AF-86C43FB6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810000"/>
            <a:ext cx="2771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Farmer-scoped digital twin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558A07-B1F3-4604-ABEC-FFED98F3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143375"/>
            <a:ext cx="2771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Observations, tasks and interventions remain traceable at the individual farm level.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981F2B-3FAA-4C9B-A1CB-0C35415F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0"/>
            <a:ext cx="3190875" cy="1381125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10A366-7071-4A44-8B08-E31E4195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0"/>
            <a:ext cx="6667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B949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9A1AFA-2412-455C-B94D-2C0FAF07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810000"/>
            <a:ext cx="2771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Safe escalation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6D5C36-94E5-4F9B-B167-1A2E7C0D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143375"/>
            <a:ext cx="2771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Low confidence or unsupported crops route evidence to KVKs and human experts.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7B6C2A-B04A-484E-827A-F00313AB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D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16A706-FBE9-4EB0-9337-F96F000A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system combines fast local detection with accountable, tool-driven reasoning.</a:t>
            </a:r>
          </a:p>
        </p:txBody>
      </p:sp>
    </p:spTree>
    <p:extLst>
      <p:ext uri="{BB962C8B-B14F-4D97-AF65-F5344CB8AC3E}">
        <p14:creationId xmlns:p14="http://schemas.microsoft.com/office/powerpoint/2010/main" val="20286924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155917-CC85-456E-B892-A824596F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64598-801E-4895-A6FD-BF995F08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Technical approach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472A31-68C4-4A54-9E74-6CCB874F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19100"/>
            <a:ext cx="70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23155-D58C-4CDE-8BFA-EB94D821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817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34859F-563A-4F47-8066-F957C4D0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KISAN SATHI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FF54C0-A366-4F20-AA9A-327E0628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3246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SMART INDIA HACKATHON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6417CD-4796-4B3A-A902-F35B7469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2667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1D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02F2E-803D-4774-8D29-255C0F43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8585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SENSE · DIAGNOSE · REASON · DELIVER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7DE9A1-3F97-452D-B56B-18C48845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local decision loop with connected support when available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32F26D-84BD-4526-8288-3BAE2AAC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219075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C70FC4-F115-4457-8C6A-199D9A80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7B06DA-7B45-4F22-8FE4-6E2922B4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Sense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088339-979A-40AB-8FF8-CEDE031B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19475"/>
            <a:ext cx="1762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809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ESP32 probes, crop images, field records and weather capture relevant field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08951F-264C-4466-8684-6CCDB0A3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7625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D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F6EFB4-B023-4192-A58F-A6CAAAF6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28875"/>
            <a:ext cx="219075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BBF754-79F0-4A39-A29F-96803291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289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884653-4447-4D59-BECD-7E3B29B6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908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Diagnose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68B4C4-7AEF-4A7B-8704-6DAA46C2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19475"/>
            <a:ext cx="1762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809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On-device vision and deterministic agronomy APIs identify stress and irrigation needs.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75688C-6F29-4F5B-9044-E94E9015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625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D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8A31AF-9730-4759-A917-77EC0E40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28875"/>
            <a:ext cx="219075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F8C36F-45EC-4D1C-ABF3-DCC3BD79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289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EE403A-7B49-46C1-9AD9-B576DF17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908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Reason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495C0C-2ED3-44F8-84EF-40DD0A45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19475"/>
            <a:ext cx="1762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809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A Codex agent uses farmer-scoped MCP tools, local state and verified data services.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F7E88A-276F-4086-9112-1A72CB17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625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D3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DD250D-5787-406B-A5C8-56803115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28875"/>
            <a:ext cx="219075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76B4D"/>
          </a:solidFill>
          <a:ln xmlns:a="http://schemas.openxmlformats.org/drawingml/2006/main" w="9525">
            <a:solidFill>
              <a:srgbClr val="176B4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C6EA7B-B0BA-4AFA-B1FB-DC83B130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289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A7D94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7D94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101557-B0E1-4B2E-B466-1995E502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908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Deliver &amp; record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9129AA-8282-4B4F-AEDF-05505B15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19475"/>
            <a:ext cx="1762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809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E9F4E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E9F4E2"/>
                </a:solidFill>
                <a:latin typeface="Aptos"/>
                <a:ea typeface="Aptos"/>
                <a:cs typeface="Aptos"/>
              </a:rPr>
              <a:t>Voice and simple screens return prioritized advice, create confirmed tasks and sync later.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0755D5-378D-4BD2-B6FE-0369EFC3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7625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4D"/>
          </a:solidFill>
          <a:ln xmlns:a="http://schemas.openxmlformats.org/drawingml/2006/main" w="0">
            <a:noFill/>
          </a:ln>
        </p:spPr>
      </p:sp>
      <p:cxnSp>
        <p:nvCxnSpPr>
          <p:cNvPr id="66" name=""/>
          <p:cNvCxnSpPr>
            <a:stCxn xmlns:a="http://schemas.openxmlformats.org/drawingml/2006/main" id="14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1905000" y="4895850"/>
            <a:ext cx="2400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4D"/>
            </a:solidFill>
            <a:prstDash val="solid"/>
            <a:head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19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4572000" y="4895850"/>
            <a:ext cx="2400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4D"/>
            </a:solidFill>
            <a:prstDash val="solid"/>
            <a:head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24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7239000" y="4895850"/>
            <a:ext cx="2400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4D"/>
            </a:solidFill>
            <a:prstDash val="solid"/>
            <a:head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08CB47-2077-4719-9652-2ED8672D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Local runtime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E05A74-F42C-4913-9371-C3EB80B3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1054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Agent orchestration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E348D7-7A27-4D02-8855-D62982FD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1054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Farmer confirmation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3539B8-FC87-4865-9E41-958930D7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 i="1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275" b="0" i="1">
                <a:solidFill>
                  <a:srgbClr val="50677C"/>
                </a:solidFill>
                <a:latin typeface="Aptos"/>
                <a:ea typeface="Aptos"/>
                <a:cs typeface="Aptos"/>
              </a:rPr>
              <a:t>The edge device and human remain the final safety controls.</a:t>
            </a:r>
          </a:p>
        </p:txBody>
      </p:sp>
    </p:spTree>
    <p:extLst>
      <p:ext uri="{BB962C8B-B14F-4D97-AF65-F5344CB8AC3E}">
        <p14:creationId xmlns:p14="http://schemas.microsoft.com/office/powerpoint/2010/main" val="12077588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A76CE7-95DB-44D9-86B9-D069EF6B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4DB54-4B82-4B4B-A989-49B23B54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A4BCE-4EF6-4CA3-8194-C48422AF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19100"/>
            <a:ext cx="70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7FC81-9797-4CB5-B05F-F3529078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817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6683E2-EC38-447A-829F-9E9E44D1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KISAN SATHI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EFDE0-3107-4FB6-838C-5551002D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3246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SMART INDIA HACKATHON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4DCF89-27AA-43F1-9DFF-99E7E328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Architecture retained from the source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623DD0-717D-45FD-92B9-4816D52A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190750" cy="238125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F1FAF8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99D8D9-8E0E-4EEC-B38E-0AC2C980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33625"/>
            <a:ext cx="2047875" cy="2381250"/>
          </a:xfrm>
          <a:prstGeom xmlns:a="http://schemas.openxmlformats.org/drawingml/2006/main" prst="roundRect">
            <a:avLst>
              <a:gd name="adj" fmla="val 6512"/>
            </a:avLst>
          </a:prstGeom>
          <a:solidFill xmlns:a="http://schemas.openxmlformats.org/drawingml/2006/main">
            <a:srgbClr val="F5F8F5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630C2D-AEF6-49BB-A9FC-6EE12435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47875"/>
            <a:ext cx="2333625" cy="2952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5F9EE"/>
          </a:solidFill>
          <a:ln xmlns:a="http://schemas.openxmlformats.org/drawingml/2006/main" w="9525">
            <a:solidFill>
              <a:srgbClr val="176B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ACB6E3-E61B-4B60-A244-896DB4B0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33625"/>
            <a:ext cx="2428875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cxnSp>
        <p:nvCxnSpPr>
          <p:cNvPr id="4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857500" y="35242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4D"/>
            </a:solidFill>
            <a:prstDash val="solid"/>
            <a:head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524500" y="35242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4D"/>
            </a:solidFill>
            <a:prstDash val="solid"/>
            <a:head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477250" y="35242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4D"/>
            </a:solidFill>
            <a:prstDash val="solid"/>
            <a:head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1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 flipV="1">
            <a:off x="7310438" y="2047875"/>
            <a:ext cx="3000375" cy="2667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B949"/>
            </a:solidFill>
            <a:prstDash val="solid"/>
            <a:head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75608E-2BED-4077-A6BA-0375CD30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FIELD / EDGE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38EC91-D802-4C6A-875E-6B4EAC5B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ESP32-S3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6694F9-DDAF-4208-A5AD-96027161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752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WiFi / MQTT buffering</a:t>
            </a:r>
          </a:p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Soil moisture, temperature, EC, pH and NPK probes</a:t>
            </a:r>
          </a:p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On-device TFLite / QNN vision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1C9948-1840-4526-87B5-A7276848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71750"/>
            <a:ext cx="1666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BACKEND &amp; 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45CC82-DA4A-4D9C-AD7D-A68FE388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14650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4CA2E9-C48D-4E0F-9BE8-1A7E4F7C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33750"/>
            <a:ext cx="1666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43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Python 3.11+ with Pydantic</a:t>
            </a:r>
          </a:p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SQLite for local state</a:t>
            </a:r>
          </a:p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MongoDB catalogues via Beanie</a:t>
            </a:r>
          </a:p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Deterministic agronomy endpoints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108DC1-BC12-488F-A487-64A3E9C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3050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AI ORCHESTRATION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62A826-54EA-491F-A276-49E4293D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6670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Codex App-Server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8EC180-6EE6-4F61-8899-60F6DE90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124200"/>
            <a:ext cx="1905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Agent loop via MCP</a:t>
            </a:r>
          </a:p>
          <a:p xmlns:a="http://schemas.openxmlformats.org/drawingml/2006/main">
            <a:pPr>
              <a:defRPr sz="1125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47 deterministic tools</a:t>
            </a:r>
          </a:p>
          <a:p xmlns:a="http://schemas.openxmlformats.org/drawingml/2006/main">
            <a:pPr>
              <a:defRPr sz="1125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Farmer-scoped context</a:t>
            </a:r>
          </a:p>
          <a:p xmlns:a="http://schemas.openxmlformats.org/drawingml/2006/main">
            <a:pPr>
              <a:defRPr sz="1125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No direct hardware authority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B3BDF2-903C-4BCD-8529-7A8FEF86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324350"/>
            <a:ext cx="16573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76B4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4C5695-8370-4D4B-B063-6262ED3C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438650"/>
            <a:ext cx="1466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090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SAFETY GATE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D189EB-590C-42BA-B589-633820EA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71750"/>
            <a:ext cx="201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956B12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56B12"/>
                </a:solidFill>
                <a:latin typeface="Aptos"/>
                <a:ea typeface="Aptos"/>
                <a:cs typeface="Aptos"/>
              </a:rPr>
              <a:t>EXTERNAL SERVICES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C81864-4639-408D-8320-150A4715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1465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Farmer interface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9F95E7-6B36-43BD-8956-82F6CC7B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33750"/>
            <a:ext cx="2019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React 19 / Vite / Tailwind</a:t>
            </a:r>
          </a:p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Sarvam AI for speech and translation</a:t>
            </a:r>
          </a:p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Open-Meteo, data.gov.in, FARMS and MahaDBT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989CA0-66B3-4F83-B8EF-DA42B810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Cloud services enrich the decision. Core field functions remain available locally.</a:t>
            </a:r>
          </a:p>
        </p:txBody>
      </p:sp>
    </p:spTree>
    <p:extLst>
      <p:ext uri="{BB962C8B-B14F-4D97-AF65-F5344CB8AC3E}">
        <p14:creationId xmlns:p14="http://schemas.microsoft.com/office/powerpoint/2010/main" val="3710119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2026-09-20T14:27:27.3810000Z</dcterms:created>
  <dcterms:modified xsi:type="dcterms:W3CDTF">2026-09-20T14:27:27.3810000Z</dcterms:modified>
</coreProperties>
</file>