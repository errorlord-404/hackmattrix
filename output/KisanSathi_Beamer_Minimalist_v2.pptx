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7ddf59327e4b5f" /><Relationship Type="http://schemas.openxmlformats.org/officeDocument/2006/relationships/extended-properties" Target="/docProps/app.xml" Id="Rd17f37ac60394e1a" /><Relationship Type="http://schemas.openxmlformats.org/officeDocument/2006/relationships/officeDocument" Target="/ppt/presentation.xml" Id="R9c2b0f51a48a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618c3226142dd"/>
  </p:sldMasterIdLst>
  <p:notesMasterIdLst>
    <p:notesMasterId xmlns:r="http://schemas.openxmlformats.org/officeDocument/2006/relationships" r:id="Rf36785fba71f4af0"/>
  </p:notesMasterIdLst>
  <p:sldIdLst>
    <p:sldId xmlns:r="http://schemas.openxmlformats.org/officeDocument/2006/relationships" id="256" r:id="R327936777ca643a9"/>
    <p:sldId xmlns:r="http://schemas.openxmlformats.org/officeDocument/2006/relationships" id="257" r:id="R8352448a2a2745c2"/>
    <p:sldId xmlns:r="http://schemas.openxmlformats.org/officeDocument/2006/relationships" id="258" r:id="R36a5fcc0f1b24ba3"/>
    <p:sldId xmlns:r="http://schemas.openxmlformats.org/officeDocument/2006/relationships" id="259" r:id="Rf094ab0dddf94dc3"/>
    <p:sldId xmlns:r="http://schemas.openxmlformats.org/officeDocument/2006/relationships" id="260" r:id="Raff795dc112244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e83138ceff4f72" /><Relationship Type="http://schemas.openxmlformats.org/officeDocument/2006/relationships/slideMaster" Target="/ppt/slideMasters/slideMaster1.xml" Id="Rebf618c3226142dd" /><Relationship Type="http://schemas.openxmlformats.org/officeDocument/2006/relationships/notesMaster" Target="/ppt/notesMasters/notesMaster1.xml" Id="Rf36785fba71f4af0" /><Relationship Type="http://schemas.openxmlformats.org/officeDocument/2006/relationships/presProps" Target="/ppt/presProps.xml" Id="Rc0030421a2014e74" /><Relationship Type="http://schemas.openxmlformats.org/officeDocument/2006/relationships/tableStyles" Target="/ppt/tableStyles.xml" Id="R76394e551f9e4d34" /><Relationship Type="http://schemas.openxmlformats.org/officeDocument/2006/relationships/slide" Target="/ppt/slides/slide1.xml" Id="R327936777ca643a9" /><Relationship Type="http://schemas.openxmlformats.org/officeDocument/2006/relationships/slide" Target="/ppt/slides/slide2.xml" Id="R8352448a2a2745c2" /><Relationship Type="http://schemas.openxmlformats.org/officeDocument/2006/relationships/slide" Target="/ppt/slides/slide3.xml" Id="R36a5fcc0f1b24ba3" /><Relationship Type="http://schemas.openxmlformats.org/officeDocument/2006/relationships/slide" Target="/ppt/slides/slide4.xml" Id="Rf094ab0dddf94dc3" /><Relationship Type="http://schemas.openxmlformats.org/officeDocument/2006/relationships/slide" Target="/ppt/slides/slide5.xml" Id="Raff795dc112244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db396cf52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c505ecdd946c1" /><Relationship Type="http://schemas.openxmlformats.org/officeDocument/2006/relationships/notesMaster" Target="/ppt/notesMasters/notesMaster1.xml" Id="Rab485ab9946d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a6ba8f60484f21" /><Relationship Type="http://schemas.openxmlformats.org/officeDocument/2006/relationships/notesMaster" Target="/ppt/notesMasters/notesMaster1.xml" Id="R53a0c7f92c0844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2d5249f0434ffe" /><Relationship Type="http://schemas.openxmlformats.org/officeDocument/2006/relationships/notesMaster" Target="/ppt/notesMasters/notesMaster1.xml" Id="R341146a67c0c46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b2f53764074e65" /><Relationship Type="http://schemas.openxmlformats.org/officeDocument/2006/relationships/notesMaster" Target="/ppt/notesMasters/notesMaster1.xml" Id="R57a7552274de49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3e5143f304b81" /><Relationship Type="http://schemas.openxmlformats.org/officeDocument/2006/relationships/notesMaster" Target="/ppt/notesMasters/notesMaster1.xml" Id="Ra3f54a919ab84c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ab960c11144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42ccc663324ae4" /><Relationship Type="http://schemas.openxmlformats.org/officeDocument/2006/relationships/slideLayout" Target="/ppt/slideLayouts/slideLayout1.xml" Id="R48b3bebe15a244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b3bebe15a244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cf886e16e44b2" /><Relationship Type="http://schemas.openxmlformats.org/officeDocument/2006/relationships/notesSlide" Target="/ppt/notesSlides/notesSlide1.xml" Id="R0dc4e447c32b4a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52017098d4b1e" /><Relationship Type="http://schemas.openxmlformats.org/officeDocument/2006/relationships/notesSlide" Target="/ppt/notesSlides/notesSlide2.xml" Id="R17de68488fbf40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1f2d091ba4c73" /><Relationship Type="http://schemas.openxmlformats.org/officeDocument/2006/relationships/notesSlide" Target="/ppt/notesSlides/notesSlide3.xml" Id="Re46059942faf4a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8d83bbb3942f4" /><Relationship Type="http://schemas.openxmlformats.org/officeDocument/2006/relationships/notesSlide" Target="/ppt/notesSlides/notesSlide4.xml" Id="Reb3c81fcda1442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0903040964591" /><Relationship Type="http://schemas.openxmlformats.org/officeDocument/2006/relationships/notesSlide" Target="/ppt/notesSlides/notesSlide5.xml" Id="Raa7be8e84b9745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FDCB8-22F4-42C5-A9EF-D44ABD95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406E2-F931-4B41-8BA8-5081B611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1DB4A-1781-47C1-B396-1EDA57FC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8C12E-F615-409C-8A7B-F3CFC271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E908A-1413-4EB0-8960-78766F0E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C2972-7AD2-4EBD-AF0C-D3DACEB7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F95E0-6E8F-44B3-886E-407FCFB1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2571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C0380-A5C4-469F-819D-4C908D2B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63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FIELD-DEPLOYABLE FARM COPILOT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9A5E1-9823-4694-B75A-9B49C949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Turn field evidence into</a:t>
            </a:r>
          </a:p>
          <a:p xmlns:a="http://schemas.openxmlformats.org/drawingml/2006/main">
            <a:pPr>
              <a:defRPr sz="28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clear, safe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C385F-B710-4B76-8A8B-960F8E7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KisanSathi helps farmers detect crop and soil stress early, understand irrigation needs and act despite weak connectivity.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8BEC7-DDFD-42DF-9946-B27E7E4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857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09D5B-2265-4E6D-AC13-0F848CA5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43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9B65E-C18C-4F1C-BE1A-4E97160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4143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AI recommends. The farmer confirms. The edge device enforces safety limits.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F9552-3058-43E3-8735-B16F2B6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13C1F-D71C-4731-BDCA-9B2570E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5AE8A-B192-4FFA-B721-5BA80F61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Sense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soil, crop, weather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5476F-1E54-4962-9FFB-C1DCC529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A687F-BFE7-4671-B9F3-A7083878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Diagnose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A3156-5935-4270-B377-4F56DC26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DDD84-EB5E-41A0-A5BB-65FB936C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Recommend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with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7B6C0-7E71-4BEC-B03E-3E1807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67B81-6DAE-4D50-862D-1EF13650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 safely</a:t>
            </a:r>
          </a:p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record</a:t>
            </a:r>
          </a:p>
        </p:txBody>
      </p:sp>
      <p:cxnSp>
        <p:nvCxnSpPr>
          <p:cNvPr id="50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82000" y="2171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810750" y="26289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3820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334250" y="26289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67002-5010-4742-B7CF-46701A5F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34"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0677C"/>
                </a:solidFill>
                <a:latin typeface="Aptos"/>
                <a:ea typeface="Aptos"/>
                <a:cs typeface="Aptos"/>
              </a:rPr>
              <a:t>A practical loop for disease, pests, nutrient stress and irrigation decisions</a:t>
            </a:r>
          </a:p>
        </p:txBody>
      </p:sp>
    </p:spTree>
    <p:extLst>
      <p:ext uri="{BB962C8B-B14F-4D97-AF65-F5344CB8AC3E}">
        <p14:creationId xmlns:p14="http://schemas.microsoft.com/office/powerpoint/2010/main" val="1093916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EC945-B081-4E78-A580-6781A832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DE657-0ED1-41C9-B0B1-3EECAEB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Problem statement and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ABDD4-DE1D-417E-B574-1FB36D1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1CE46-77C0-4655-B8ED-E6CE9BC4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80D8F-A7B0-4537-8256-042F8434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B3B6B-89F1-4D48-B54B-22D65BB2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5DBA2-5CAF-4A41-A8E1-2DDCB681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B79D0-518A-4407-819E-2433F326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6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THE FIELD REALITY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FC1E8-51D5-4C7D-896B-D2C907C9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1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Farmers make high-stakes decisions with fragmented, delayed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B1AFD-5B95-4EB1-AA85-9B4C7CAC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956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75D9D-BE74-4A95-B3B2-09F0F46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F8C19-1B3E-4B89-8D94-B6B61A6C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67000"/>
            <a:ext cx="2676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Disconnected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CCA87-6D01-48E0-9AD8-6E79256E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00375"/>
            <a:ext cx="26765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Images, soil readings, field notes and weather data sit in separate tools. The farmer must interpret them under time pressure.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15360-027A-4621-B886-70F9F49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0956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1FAF8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BAD3F-E866-4D18-8FA7-E2AE5B63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60019-5F37-4752-AEDF-2BE2347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67000"/>
            <a:ext cx="2676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Connectivity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989A6-134D-4011-9B98-DADED73E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26765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Cloud-only applications lose value when the network is unreliable, especially where timely advice matters most.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A4FBE-55FD-4583-9275-0D1ECA1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3337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C9B8F-2CF9-46E3-8289-64BE5014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93F12-EADF-4038-A1EA-516206B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67000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Unsafe automation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8C267-1AD5-48B1-BCC9-858F2BD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00375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generic AI response must not directly control pumps or turn uncertain sensor data into costly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31EEE-C97B-4334-B2CB-372A14A8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The solution needs local intelligence, understandable advice and a safety boundary around every action.</a:t>
            </a:r>
          </a:p>
        </p:txBody>
      </p:sp>
    </p:spTree>
    <p:extLst>
      <p:ext uri="{BB962C8B-B14F-4D97-AF65-F5344CB8AC3E}">
        <p14:creationId xmlns:p14="http://schemas.microsoft.com/office/powerpoint/2010/main" val="419974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6861C7-ED20-4B00-B7BA-3661CF6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BEE68-C1F2-4180-B32F-4F94BABA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1285C-4B37-47FF-B5CB-4D32F809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D77BA-98FD-4E63-A590-F808ADFA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4F6F1-0634-4238-959E-17DE1DB2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D358A-42F2-4826-B5AA-9BC127B4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AD357-31C7-4801-A3A4-6708B5A2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field-first assistant built around the farmer’s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E8D75-0DC0-4AC5-9217-4B60A077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3A3B2-9744-4F04-B190-EDE655E6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AF777-4E6A-427C-9163-964A1BAD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Offline-first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56FCC-15FF-403A-A896-CC4F423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SQLite storage, local inference and queued sync keep core workflows available during outages.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40033-BF0F-45D0-BEDA-63B01E07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DEF5D-1562-40B7-8BD0-5119295B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24AC5-4926-47E6-A71A-57AC13D0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Multilingual guidance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75155-EF50-4E6E-BA19-ECEC00E5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Hindi and Marathi voice interactions make advice accessible without complex screens.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38B3F-32B8-49F3-8228-4B889F8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6FF6D-91C3-49EC-8028-A8DF614F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B0BE2-7212-4E70-A75E-2513957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Early stress detection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C3053-1D3A-4287-AC5E-059A811C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vision and sensor readings identify disease, pests, nutrient stress and irrigation needs.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E03E3-E02D-4EA6-AE3C-0B15C504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CFB4C-AAB2-469D-A978-A3A3C3BB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ED2AE-4657-4F04-A312-679CC0BD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Explainable recommendations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F629A-85D9-4034-A764-D170C3A4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Advice includes priority, confidence, evidence and data freshness so farmers can judge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931B2-B05F-441C-B7D8-F3F69FBF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4ADDD-A7E2-43F8-AE88-54E938F5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6EB6E-42A2-47BA-A13C-5D21FD09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Farmer-scoped digital twin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3E7379-74E6-4658-A1E8-04110BD0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Observations, tasks and interventions remain traceable at the individual farm level.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C8646-C56D-41BC-9145-A0CEAADC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F4C14-7FF6-4284-BE9E-42A671B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0FE624-8373-481E-9FD5-B9C0F7A6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Safe 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523C1-761E-4242-B623-A4166215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Low confidence or unsupported crops route evidence to KVKs and human experts.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07C39D-7ECE-4708-8191-DB30E0B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095E9E-9755-4DB3-AA87-2F0FA13F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system combines fast local detection with accountable, tool-driven reasoning.</a:t>
            </a:r>
          </a:p>
        </p:txBody>
      </p:sp>
    </p:spTree>
    <p:extLst>
      <p:ext uri="{BB962C8B-B14F-4D97-AF65-F5344CB8AC3E}">
        <p14:creationId xmlns:p14="http://schemas.microsoft.com/office/powerpoint/2010/main" val="17503286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EF83D0-8E71-45C6-8E00-E6760584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F4972-465E-4896-A4B4-4B373C15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Technical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04B08-6BB8-4077-8D49-F858F8DE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8B35E-BE77-4F68-B84A-76DB2F1C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E5257-8165-4113-A914-4491FD9A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72125-20A4-4E36-B42F-0B4CCA77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AB65B-543F-4BDD-8DD6-4142A478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2667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A6C40-7257-46D7-95C5-ED20EAE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6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SENSE · DIAGNOSE · REASON · DELIVER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C6FE4-E204-4FA1-87A5-7293DE5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local decision loop with connected support when 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B7D3E-4844-4D56-A444-15CFAADA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E2BC9-F710-42D6-8EAF-5875BE17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FB2C-CC6F-43AE-89A1-896EA590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196E8-4A35-493F-B18F-BC1EB3E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ESP32 probes, crop images, field records and weather capture relevant field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44965-67C0-4DC2-9C6E-183F29A5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E4C39-59AA-4ACC-B4D2-B692417A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F5611-68EB-4569-989F-2B46D68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70DDA-54EF-4439-B53C-5F343AD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9E28F-EBFC-4E1D-9D84-29C7A528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vision and deterministic agronomy APIs identify stress and irrigation needs.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8B4B1-BEE2-4A9F-9A20-C324B9E8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55B78-11F3-4567-95C3-1759BA69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CB9DE-2F84-4E4B-96DB-F73E4ABC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930C8-EC62-4039-84F9-5DA46F3F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6DA3E-CF34-4E47-8F8D-28914B20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Codex agent uses farmer-scoped MCP tools, local state and verified data services.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45C1B-2C1B-4C20-B84D-94E99E0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7CDC0-BE3E-4F8A-9F1A-EE4AA6E8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136B0-4859-490A-90F3-D385F05B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A7D94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7D9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000A3-DCB6-455B-BB76-3D8F052C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 &amp;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96A48-5314-4A8E-BE76-6BF8FA4D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9F4E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E9F4E2"/>
                </a:solidFill>
                <a:latin typeface="Aptos"/>
                <a:ea typeface="Aptos"/>
                <a:cs typeface="Aptos"/>
              </a:rPr>
              <a:t>Voice and simple screens return prioritized advice, create confirmed tasks and sync later.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F818F-1992-4372-88D9-C7D21300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905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572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239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3A4C5D-C5C4-4CE0-B875-D64B445E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Local runtime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845AD5-4CE4-4857-957F-C8E8F31D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05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Agent orchestration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32C55A-10B5-4B33-8DC5-DC0A4E2C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Farmer confirmation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ABFB3-E785-4AF0-98C8-168B1C9F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1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50677C"/>
                </a:solidFill>
                <a:latin typeface="Aptos"/>
                <a:ea typeface="Aptos"/>
                <a:cs typeface="Aptos"/>
              </a:rPr>
              <a:t>The edge device and human remain the final safety controls.</a:t>
            </a:r>
          </a:p>
        </p:txBody>
      </p:sp>
    </p:spTree>
    <p:extLst>
      <p:ext uri="{BB962C8B-B14F-4D97-AF65-F5344CB8AC3E}">
        <p14:creationId xmlns:p14="http://schemas.microsoft.com/office/powerpoint/2010/main" val="1257397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C1C774-DC0F-4C18-B9E6-C16AD27E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13161-0ADE-48B7-9F4B-6534C3CE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8802C-3440-4DD4-B62F-18E20BAB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29FCB-51D5-4EA7-B3D5-5E0FC017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7D66F-CEC0-44DA-B955-E47C0FD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7EF4A-7FE2-4AB2-B468-A6F9CD08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640D5-AD05-4286-88F9-C8ED4C6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Architecture retained from the source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8711A-9CCD-4321-9C1E-F7254F79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190750" cy="23812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1FAF8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874C5-76B8-442F-A351-0744B59C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047875" cy="23812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F0E4C-F3AB-4B58-B878-22CFC0F6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2333625" cy="2952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9EE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44EA0-59B0-48F1-8BEF-AB1BBB82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42887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5750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47725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B949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7E8DD-1E8F-43B0-9E6F-CDAAD2BE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 /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1BE40-5CD2-4B77-AAF2-D447D0B2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ESP32-S3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7830F-EE71-4D94-9EF9-9FCE41A3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752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WiFi / MQTT buffering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Soil moisture, temperature, EC, pH and NPK probes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TFLite / QNN vision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84F09-241B-40DF-9103-E75DFE47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BACKEND &amp;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253B3-2770-4246-B065-DFDE1052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4BB5A-DD4F-438D-AAB1-74DE26D0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1666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43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Python 3.11+ with Pydantic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SQLite for local state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MongoDB catalogues via Beanie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Deterministic agronomy endpoints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291B8-ADAA-45E9-90A4-09ADD2FF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05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AI ORCHESTRATION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9EAAA-E88C-449A-AA0C-6FFA6269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Codex App-Server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F23E0-67B0-4FE3-8152-97EB8CB9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24200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Agent loop via MCP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47 deterministic tools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Farmer-scoped context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No direct hardware authority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0D1D6-FFD5-4D28-8197-CDA5C669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24350"/>
            <a:ext cx="1657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C1C00-C03F-43CB-AB18-454F1A64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38650"/>
            <a:ext cx="1466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90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EB633-A45B-4261-8EC1-C2EAAF6C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956B1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56B12"/>
                </a:solidFill>
                <a:latin typeface="Aptos"/>
                <a:ea typeface="Aptos"/>
                <a:cs typeface="Aptos"/>
              </a:rPr>
              <a:t>EXTERNAL SERVICES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DC3054-FEE2-45B5-BB3D-C535DB67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 interface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76288-A7E7-4F7F-B1FA-8C9B7B34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2019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React 19 / Vite / Tailwind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Sarvam AI for speech and translation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Open-Meteo, data.gov.in, FARMS and MahaDBT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3D7DB-3390-4A79-BEF4-F749D87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Cloud services enrich the decision. Core field functions remain available locally.</a:t>
            </a:r>
          </a:p>
        </p:txBody>
      </p:sp>
    </p:spTree>
    <p:extLst>
      <p:ext uri="{BB962C8B-B14F-4D97-AF65-F5344CB8AC3E}">
        <p14:creationId xmlns:p14="http://schemas.microsoft.com/office/powerpoint/2010/main" val="838207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2026-09-20T14:31:33.1770000Z</dcterms:created>
  <dcterms:modified xsi:type="dcterms:W3CDTF">2026-09-20T14:31:33.1770000Z</dcterms:modified>
</coreProperties>
</file>